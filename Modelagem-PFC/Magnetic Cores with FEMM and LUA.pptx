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65" r:id="rId3"/>
    <p:sldId id="263" r:id="rId4"/>
    <p:sldId id="266" r:id="rId5"/>
    <p:sldId id="270" r:id="rId6"/>
    <p:sldId id="271" r:id="rId7"/>
    <p:sldId id="289" r:id="rId8"/>
    <p:sldId id="267" r:id="rId9"/>
    <p:sldId id="286" r:id="rId10"/>
    <p:sldId id="294" r:id="rId11"/>
    <p:sldId id="287" r:id="rId12"/>
    <p:sldId id="288" r:id="rId13"/>
    <p:sldId id="269" r:id="rId14"/>
    <p:sldId id="292" r:id="rId15"/>
    <p:sldId id="293" r:id="rId1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38089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76179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14268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52357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1904467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285362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2666253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047146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16559E-FD3D-4854-A794-1BEEA60006F7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590801-64B4-482D-8338-35F036076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06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D2394B-E06C-4DC9-BCC2-551C3DED9AAD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33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943109"/>
            <a:ext cx="11277600" cy="1470025"/>
          </a:xfrm>
        </p:spPr>
        <p:txBody>
          <a:bodyPr/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3698878"/>
            <a:ext cx="11277600" cy="1485900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856133" y="5919903"/>
            <a:ext cx="2844800" cy="206376"/>
          </a:xfrm>
        </p:spPr>
        <p:txBody>
          <a:bodyPr/>
          <a:lstStyle>
            <a:lvl1pPr>
              <a:defRPr/>
            </a:lvl1pPr>
          </a:lstStyle>
          <a:p>
            <a:fld id="{4EB31CEC-7A31-4EBA-9C0C-E2DBB8264AC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6687D7-76F0-8040-93B6-084C7529F854}"/>
              </a:ext>
            </a:extLst>
          </p:cNvPr>
          <p:cNvSpPr txBox="1"/>
          <p:nvPr/>
        </p:nvSpPr>
        <p:spPr>
          <a:xfrm>
            <a:off x="6274421" y="6373542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72483" y="6376352"/>
            <a:ext cx="2083152" cy="257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4162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943109"/>
            <a:ext cx="11277600" cy="1470025"/>
          </a:xfrm>
        </p:spPr>
        <p:txBody>
          <a:bodyPr/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3698878"/>
            <a:ext cx="11277600" cy="1485900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3F1F293-7B5B-6248-AEF0-BCB7B73543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856133" y="5919903"/>
            <a:ext cx="2844800" cy="206376"/>
          </a:xfrm>
        </p:spPr>
        <p:txBody>
          <a:bodyPr/>
          <a:lstStyle>
            <a:lvl1pPr>
              <a:defRPr/>
            </a:lvl1pPr>
          </a:lstStyle>
          <a:p>
            <a:fld id="{4EB31CEC-7A31-4EBA-9C0C-E2DBB8264AC1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72483" y="6376352"/>
            <a:ext cx="2083152" cy="257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81760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3698878"/>
            <a:ext cx="11277600" cy="1485900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943109"/>
            <a:ext cx="11277600" cy="1470025"/>
          </a:xfrm>
        </p:spPr>
        <p:txBody>
          <a:bodyPr/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815B5F2-A5A7-1E49-BC30-BA3F7599617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856133" y="5919903"/>
            <a:ext cx="2844800" cy="2063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B31CEC-7A31-4EBA-9C0C-E2DBB8264AC1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72483" y="6376352"/>
            <a:ext cx="2083152" cy="257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76461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943109"/>
            <a:ext cx="11277600" cy="1470025"/>
          </a:xfrm>
        </p:spPr>
        <p:txBody>
          <a:bodyPr/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3698878"/>
            <a:ext cx="11277600" cy="1485900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3F1F293-7B5B-6248-AEF0-BCB7B73543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856133" y="5919903"/>
            <a:ext cx="2844800" cy="206376"/>
          </a:xfrm>
        </p:spPr>
        <p:txBody>
          <a:bodyPr/>
          <a:lstStyle>
            <a:lvl1pPr>
              <a:defRPr/>
            </a:lvl1pPr>
          </a:lstStyle>
          <a:p>
            <a:fld id="{4EB31CEC-7A31-4EBA-9C0C-E2DBB8264AC1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A picture containing drawing, cup&#10;&#10;Description automatically generated">
            <a:extLst>
              <a:ext uri="{FF2B5EF4-FFF2-40B4-BE49-F238E27FC236}">
                <a16:creationId xmlns:a16="http://schemas.microsoft.com/office/drawing/2014/main" id="{7CC34E39-7310-7442-846F-66689DD005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3158" y="6376901"/>
            <a:ext cx="2084796" cy="25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201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505" y="1048477"/>
            <a:ext cx="11290300" cy="4945932"/>
          </a:xfrm>
        </p:spPr>
        <p:txBody>
          <a:bodyPr/>
          <a:lstStyle>
            <a:lvl1pPr>
              <a:spcBef>
                <a:spcPts val="889"/>
              </a:spcBef>
              <a:defRPr/>
            </a:lvl1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B31CEC-7A31-4EBA-9C0C-E2DBB8264AC1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7" descr="ti_logo_powerpoint_1_lin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72483" y="6376352"/>
            <a:ext cx="2083152" cy="257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20908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4501" y="1185864"/>
            <a:ext cx="5543551" cy="4692651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267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20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20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20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2267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185864"/>
            <a:ext cx="5543549" cy="4692651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267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20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20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20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B31CEC-7A31-4EBA-9C0C-E2DBB8264AC1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72483" y="6376352"/>
            <a:ext cx="2083152" cy="257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23169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507847" indent="0">
              <a:buNone/>
              <a:defRPr sz="2267" b="1"/>
            </a:lvl2pPr>
            <a:lvl3pPr marL="1015695" indent="0">
              <a:buNone/>
              <a:defRPr sz="2000" b="1"/>
            </a:lvl3pPr>
            <a:lvl4pPr marL="1523539" indent="0">
              <a:buNone/>
              <a:defRPr sz="1733" b="1"/>
            </a:lvl4pPr>
            <a:lvl5pPr marL="2031380" indent="0">
              <a:buNone/>
              <a:defRPr sz="1733" b="1"/>
            </a:lvl5pPr>
            <a:lvl6pPr marL="2539226" indent="0">
              <a:buNone/>
              <a:defRPr sz="1733" b="1"/>
            </a:lvl6pPr>
            <a:lvl7pPr marL="3047073" indent="0">
              <a:buNone/>
              <a:defRPr sz="1733" b="1"/>
            </a:lvl7pPr>
            <a:lvl8pPr marL="3554915" indent="0">
              <a:buNone/>
              <a:defRPr sz="1733" b="1"/>
            </a:lvl8pPr>
            <a:lvl9pPr marL="4062760" indent="0">
              <a:buNone/>
              <a:defRPr sz="173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6"/>
            <a:ext cx="5386917" cy="39512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267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2267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2267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2267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2267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507847" indent="0">
              <a:buNone/>
              <a:defRPr sz="2267" b="1"/>
            </a:lvl2pPr>
            <a:lvl3pPr marL="1015695" indent="0">
              <a:buNone/>
              <a:defRPr sz="2000" b="1"/>
            </a:lvl3pPr>
            <a:lvl4pPr marL="1523539" indent="0">
              <a:buNone/>
              <a:defRPr sz="1733" b="1"/>
            </a:lvl4pPr>
            <a:lvl5pPr marL="2031380" indent="0">
              <a:buNone/>
              <a:defRPr sz="1733" b="1"/>
            </a:lvl5pPr>
            <a:lvl6pPr marL="2539226" indent="0">
              <a:buNone/>
              <a:defRPr sz="1733" b="1"/>
            </a:lvl6pPr>
            <a:lvl7pPr marL="3047073" indent="0">
              <a:buNone/>
              <a:defRPr sz="1733" b="1"/>
            </a:lvl7pPr>
            <a:lvl8pPr marL="3554915" indent="0">
              <a:buNone/>
              <a:defRPr sz="1733" b="1"/>
            </a:lvl8pPr>
            <a:lvl9pPr marL="4062760" indent="0">
              <a:buNone/>
              <a:defRPr sz="173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6"/>
            <a:ext cx="5389033" cy="39512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267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2267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2267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2267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2267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B31CEC-7A31-4EBA-9C0C-E2DBB8264AC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7" descr="ti_logo_powerpoint_1_lin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72483" y="6376352"/>
            <a:ext cx="2083152" cy="257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94869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B31CEC-7A31-4EBA-9C0C-E2DBB8264AC1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27" descr="ti_logo_powerpoint_1_lin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72483" y="6376352"/>
            <a:ext cx="2083152" cy="257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56932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1"/>
            <a:ext cx="4011084" cy="1162051"/>
          </a:xfrm>
        </p:spPr>
        <p:txBody>
          <a:bodyPr anchor="b"/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267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20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20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20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2267"/>
            </a:lvl6pPr>
            <a:lvl7pPr>
              <a:defRPr sz="2267"/>
            </a:lvl7pPr>
            <a:lvl8pPr>
              <a:defRPr sz="2267"/>
            </a:lvl8pPr>
            <a:lvl9pPr>
              <a:defRPr sz="22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0"/>
            <a:ext cx="4011084" cy="4691064"/>
          </a:xfrm>
        </p:spPr>
        <p:txBody>
          <a:bodyPr/>
          <a:lstStyle>
            <a:lvl1pPr marL="0" indent="0">
              <a:buNone/>
              <a:defRPr sz="2267"/>
            </a:lvl1pPr>
            <a:lvl2pPr marL="507847" indent="0">
              <a:buNone/>
              <a:defRPr sz="1333"/>
            </a:lvl2pPr>
            <a:lvl3pPr marL="1015695" indent="0">
              <a:buNone/>
              <a:defRPr sz="1067"/>
            </a:lvl3pPr>
            <a:lvl4pPr marL="1523539" indent="0">
              <a:buNone/>
              <a:defRPr sz="933"/>
            </a:lvl4pPr>
            <a:lvl5pPr marL="2031380" indent="0">
              <a:buNone/>
              <a:defRPr sz="933"/>
            </a:lvl5pPr>
            <a:lvl6pPr marL="2539226" indent="0">
              <a:buNone/>
              <a:defRPr sz="933"/>
            </a:lvl6pPr>
            <a:lvl7pPr marL="3047073" indent="0">
              <a:buNone/>
              <a:defRPr sz="933"/>
            </a:lvl7pPr>
            <a:lvl8pPr marL="3554915" indent="0">
              <a:buNone/>
              <a:defRPr sz="933"/>
            </a:lvl8pPr>
            <a:lvl9pPr marL="4062760" indent="0">
              <a:buNone/>
              <a:defRPr sz="9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B31CEC-7A31-4EBA-9C0C-E2DBB8264AC1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72483" y="6376352"/>
            <a:ext cx="2083152" cy="257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75240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9033" y="142885"/>
            <a:ext cx="11277600" cy="814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44505" y="1058866"/>
            <a:ext cx="11290300" cy="49355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890004" y="5923723"/>
            <a:ext cx="2844800" cy="206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r">
              <a:defRPr sz="933"/>
            </a:lvl1pPr>
          </a:lstStyle>
          <a:p>
            <a:fld id="{4EB31CEC-7A31-4EBA-9C0C-E2DBB8264AC1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2663C74-62AB-B64B-BCBB-0866ABE6E2D3}"/>
              </a:ext>
            </a:extLst>
          </p:cNvPr>
          <p:cNvCxnSpPr>
            <a:cxnSpLocks/>
          </p:cNvCxnSpPr>
          <p:nvPr/>
        </p:nvCxnSpPr>
        <p:spPr>
          <a:xfrm>
            <a:off x="0" y="6209263"/>
            <a:ext cx="1190519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31">
            <a:extLst>
              <a:ext uri="{FF2B5EF4-FFF2-40B4-BE49-F238E27FC236}">
                <a16:creationId xmlns:a16="http://schemas.microsoft.com/office/drawing/2014/main" id="{BBEA79FD-0CFB-464E-959F-0C18C6048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351" y="6209263"/>
            <a:ext cx="2815167" cy="24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1572" tIns="50784" rIns="101572" bIns="50784">
            <a:spAutoFit/>
          </a:bodyPr>
          <a:lstStyle/>
          <a:p>
            <a:pPr marL="0" marR="0" indent="0" algn="l" defTabSz="1015695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33" dirty="0"/>
              <a:t>TI Information – Selective Disclosure</a:t>
            </a:r>
          </a:p>
        </p:txBody>
      </p:sp>
    </p:spTree>
    <p:extLst>
      <p:ext uri="{BB962C8B-B14F-4D97-AF65-F5344CB8AC3E}">
        <p14:creationId xmlns:p14="http://schemas.microsoft.com/office/powerpoint/2010/main" val="2497903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50784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Arial" charset="0"/>
        </a:defRPr>
      </a:lvl6pPr>
      <a:lvl7pPr marL="1015695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Arial" charset="0"/>
        </a:defRPr>
      </a:lvl7pPr>
      <a:lvl8pPr marL="1523539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Arial" charset="0"/>
        </a:defRPr>
      </a:lvl8pPr>
      <a:lvl9pPr marL="20313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Arial" charset="0"/>
        </a:defRPr>
      </a:lvl9pPr>
    </p:titleStyle>
    <p:bodyStyle>
      <a:lvl1pPr marL="252159" indent="-252159" algn="l" rtl="0" eaLnBrk="1" fontAlgn="base" hangingPunct="1">
        <a:spcBef>
          <a:spcPts val="889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38335" indent="-259215" algn="l" rtl="0" eaLnBrk="1" fontAlgn="base" hangingPunct="1">
        <a:spcBef>
          <a:spcPct val="20000"/>
        </a:spcBef>
        <a:spcAft>
          <a:spcPct val="0"/>
        </a:spcAft>
        <a:buChar char="–"/>
        <a:defRPr sz="2133">
          <a:solidFill>
            <a:schemeClr val="tx1"/>
          </a:solidFill>
          <a:latin typeface="+mn-lt"/>
        </a:defRPr>
      </a:lvl2pPr>
      <a:lvl3pPr marL="948683" indent="-183393" algn="l" rtl="0" eaLnBrk="1" fontAlgn="base" hangingPunct="1">
        <a:spcBef>
          <a:spcPct val="15000"/>
        </a:spcBef>
        <a:spcAft>
          <a:spcPct val="0"/>
        </a:spcAft>
        <a:buChar char="•"/>
        <a:defRPr sz="2133">
          <a:solidFill>
            <a:schemeClr val="tx1"/>
          </a:solidFill>
          <a:latin typeface="+mn-lt"/>
        </a:defRPr>
      </a:lvl3pPr>
      <a:lvl4pPr marL="1334857" indent="-259215" algn="l" rtl="0" eaLnBrk="1" fontAlgn="base" hangingPunct="1">
        <a:spcBef>
          <a:spcPct val="5000"/>
        </a:spcBef>
        <a:spcAft>
          <a:spcPct val="0"/>
        </a:spcAft>
        <a:buChar char="–"/>
        <a:defRPr sz="2133">
          <a:solidFill>
            <a:schemeClr val="tx1"/>
          </a:solidFill>
          <a:latin typeface="+mn-lt"/>
        </a:defRPr>
      </a:lvl4pPr>
      <a:lvl5pPr marL="1654020" indent="-192213" algn="l" rtl="0" eaLnBrk="1" fontAlgn="base" hangingPunct="1">
        <a:spcBef>
          <a:spcPct val="0"/>
        </a:spcBef>
        <a:spcAft>
          <a:spcPct val="0"/>
        </a:spcAft>
        <a:buChar char="»"/>
        <a:defRPr sz="2133">
          <a:solidFill>
            <a:schemeClr val="tx1"/>
          </a:solidFill>
          <a:latin typeface="+mn-lt"/>
        </a:defRPr>
      </a:lvl5pPr>
      <a:lvl6pPr marL="2161867" indent="-192213" algn="l" rtl="0" eaLnBrk="1" fontAlgn="base" hangingPunct="1">
        <a:spcBef>
          <a:spcPct val="0"/>
        </a:spcBef>
        <a:spcAft>
          <a:spcPct val="0"/>
        </a:spcAft>
        <a:buChar char="»"/>
        <a:defRPr sz="1733">
          <a:solidFill>
            <a:schemeClr val="tx1"/>
          </a:solidFill>
          <a:latin typeface="+mn-lt"/>
        </a:defRPr>
      </a:lvl6pPr>
      <a:lvl7pPr marL="2669715" indent="-192213" algn="l" rtl="0" eaLnBrk="1" fontAlgn="base" hangingPunct="1">
        <a:spcBef>
          <a:spcPct val="0"/>
        </a:spcBef>
        <a:spcAft>
          <a:spcPct val="0"/>
        </a:spcAft>
        <a:buChar char="»"/>
        <a:defRPr sz="1733">
          <a:solidFill>
            <a:schemeClr val="tx1"/>
          </a:solidFill>
          <a:latin typeface="+mn-lt"/>
        </a:defRPr>
      </a:lvl7pPr>
      <a:lvl8pPr marL="3177561" indent="-192213" algn="l" rtl="0" eaLnBrk="1" fontAlgn="base" hangingPunct="1">
        <a:spcBef>
          <a:spcPct val="0"/>
        </a:spcBef>
        <a:spcAft>
          <a:spcPct val="0"/>
        </a:spcAft>
        <a:buChar char="»"/>
        <a:defRPr sz="1733">
          <a:solidFill>
            <a:schemeClr val="tx1"/>
          </a:solidFill>
          <a:latin typeface="+mn-lt"/>
        </a:defRPr>
      </a:lvl8pPr>
      <a:lvl9pPr marL="3685407" indent="-192213" algn="l" rtl="0" eaLnBrk="1" fontAlgn="base" hangingPunct="1">
        <a:spcBef>
          <a:spcPct val="0"/>
        </a:spcBef>
        <a:spcAft>
          <a:spcPct val="0"/>
        </a:spcAft>
        <a:buChar char="»"/>
        <a:defRPr sz="1733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569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7847" algn="l" defTabSz="101569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5695" algn="l" defTabSz="101569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3539" algn="l" defTabSz="101569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1380" algn="l" defTabSz="101569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39226" algn="l" defTabSz="101569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7073" algn="l" defTabSz="101569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4915" algn="l" defTabSz="101569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2760" algn="l" defTabSz="101569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www.femm.info/wiki/HomePage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hyperlink" Target="http://www.ti.com/lit/zip/sloc329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2E9EE-245B-44B1-98FD-79DFEB527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4DC585-1285-4C80-98C3-25C7511993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644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5439" y="1473901"/>
            <a:ext cx="11277600" cy="1470025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DE0000"/>
                </a:solidFill>
              </a:rPr>
              <a:t>Magnetic Cores designs with FEMM 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81913" y="2957473"/>
            <a:ext cx="11277600" cy="1485900"/>
          </a:xfrm>
        </p:spPr>
        <p:txBody>
          <a:bodyPr/>
          <a:lstStyle/>
          <a:p>
            <a:pPr eaLnBrk="1" hangingPunct="1"/>
            <a:r>
              <a:rPr lang="en-US" dirty="0"/>
              <a:t>Simulating magnetic core using FEMM and LUA scripts to estimate inductance and Magnetic Gain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Javier Contreras</a:t>
            </a:r>
          </a:p>
          <a:p>
            <a:pPr eaLnBrk="1" hangingPunct="1"/>
            <a:r>
              <a:rPr lang="en-US" dirty="0"/>
              <a:t>Scott Vestal</a:t>
            </a:r>
          </a:p>
          <a:p>
            <a:pPr eaLnBrk="1" hangingPunct="1"/>
            <a:r>
              <a:rPr lang="en-US" dirty="0"/>
              <a:t>February 2017</a:t>
            </a: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7215F0D-92E5-4128-9B70-CC7518499649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FEMM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444504" y="927101"/>
            <a:ext cx="10325096" cy="2781300"/>
          </a:xfrm>
        </p:spPr>
        <p:txBody>
          <a:bodyPr/>
          <a:lstStyle/>
          <a:p>
            <a:r>
              <a:rPr lang="en-US" sz="2133" dirty="0"/>
              <a:t>FEMM can be downloaded from the official website. </a:t>
            </a:r>
            <a:r>
              <a:rPr lang="en-US" sz="2133" dirty="0">
                <a:hlinkClick r:id="rId2"/>
              </a:rPr>
              <a:t>http://www.femm.info/wiki/HomePage</a:t>
            </a:r>
            <a:r>
              <a:rPr lang="en-US" sz="2133" dirty="0"/>
              <a:t>.</a:t>
            </a:r>
          </a:p>
          <a:p>
            <a:pPr marL="0" indent="0">
              <a:buNone/>
            </a:pPr>
            <a:endParaRPr lang="en-US" sz="2133" dirty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2773B-7332-4E92-84CF-34A277FF245B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599" y="1791319"/>
            <a:ext cx="7480300" cy="422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Element Method Magnetics (FEMM) Basics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FEMM uses a Finite Element method to solve electromagnetics problems. </a:t>
            </a:r>
          </a:p>
          <a:p>
            <a:r>
              <a:rPr lang="en-US" sz="2400" dirty="0"/>
              <a:t>Nodes connected by line segments and arcs to define boundary conditions as well as regions containing different materials and current distributions. </a:t>
            </a:r>
            <a:endParaRPr lang="en-US" dirty="0"/>
          </a:p>
          <a:p>
            <a:r>
              <a:rPr lang="en-US" sz="2400" dirty="0"/>
              <a:t>FEMM then generates a mesh within this problem’s geometry, which it uses to solve for the magnetic field distribution within the boundaries. </a:t>
            </a:r>
            <a:endParaRPr lang="en-US" sz="2667" dirty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2773B-7332-4E92-84CF-34A277FF245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9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1" y="1489899"/>
            <a:ext cx="5543549" cy="4083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697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Element Method Magnetics (FEMM) Basics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44502" y="1185864"/>
            <a:ext cx="5721669" cy="4692651"/>
          </a:xfrm>
        </p:spPr>
        <p:txBody>
          <a:bodyPr/>
          <a:lstStyle/>
          <a:p>
            <a:r>
              <a:rPr lang="en-US" sz="2400" dirty="0"/>
              <a:t>LUA allows all the functionality of FEMM to be controlled through scripting and make drawing a core and changing parameters quicker and not having to redraw a core in FEMM</a:t>
            </a:r>
          </a:p>
          <a:p>
            <a:r>
              <a:rPr lang="en-US" sz="2400" dirty="0"/>
              <a:t>Scripts attached are used to get an estimate of magnetic core’s </a:t>
            </a:r>
            <a:r>
              <a:rPr lang="en-US" sz="2400" u="sng" dirty="0"/>
              <a:t>inductance</a:t>
            </a:r>
            <a:r>
              <a:rPr lang="en-US" sz="2400" dirty="0"/>
              <a:t> in the secondary coil and the core’s </a:t>
            </a:r>
            <a:r>
              <a:rPr lang="en-US" sz="2400" u="sng" dirty="0"/>
              <a:t>magnetic gain</a:t>
            </a:r>
            <a:r>
              <a:rPr lang="en-US" sz="2400" dirty="0"/>
              <a:t>.  </a:t>
            </a:r>
          </a:p>
          <a:p>
            <a:r>
              <a:rPr lang="en-US" sz="2400" dirty="0"/>
              <a:t>Parameters are used in the </a:t>
            </a:r>
            <a:r>
              <a:rPr lang="en-US" sz="2400" dirty="0">
                <a:hlinkClick r:id="rId2"/>
              </a:rPr>
              <a:t>DRV421 System Parameter Calculator</a:t>
            </a:r>
            <a:endParaRPr lang="en-US" sz="2400" dirty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2773B-7332-4E92-84CF-34A277FF245B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5237" y="1185333"/>
            <a:ext cx="5295576" cy="4692651"/>
          </a:xfrm>
        </p:spPr>
      </p:pic>
      <p:cxnSp>
        <p:nvCxnSpPr>
          <p:cNvPr id="7" name="Straight Arrow Connector 6"/>
          <p:cNvCxnSpPr/>
          <p:nvPr/>
        </p:nvCxnSpPr>
        <p:spPr>
          <a:xfrm>
            <a:off x="6108701" y="3746500"/>
            <a:ext cx="1587500" cy="609600"/>
          </a:xfrm>
          <a:prstGeom prst="straightConnector1">
            <a:avLst/>
          </a:prstGeom>
          <a:ln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2882900" y="4483101"/>
            <a:ext cx="4724400" cy="5715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4143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Magnetic Core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3548F6-AAA9-4A8D-A869-511B3DFE325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4501" y="982663"/>
            <a:ext cx="3644900" cy="3144836"/>
          </a:xfrm>
        </p:spPr>
        <p:txBody>
          <a:bodyPr/>
          <a:lstStyle/>
          <a:p>
            <a:r>
              <a:rPr lang="en-US" dirty="0"/>
              <a:t>The script attached will draw the core seen.</a:t>
            </a:r>
          </a:p>
          <a:p>
            <a:r>
              <a:rPr lang="en-US" dirty="0"/>
              <a:t>Download script and save where you would like all your FEMM Magnetic Core simulations saved.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101" y="228056"/>
            <a:ext cx="8044796" cy="5791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8467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Script From FEMM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4500" y="1185864"/>
            <a:ext cx="4978400" cy="4692651"/>
          </a:xfrm>
        </p:spPr>
        <p:txBody>
          <a:bodyPr/>
          <a:lstStyle/>
          <a:p>
            <a:r>
              <a:rPr lang="en-US" dirty="0"/>
              <a:t>Click “Open a </a:t>
            </a:r>
            <a:r>
              <a:rPr lang="en-US" dirty="0" err="1"/>
              <a:t>Lua</a:t>
            </a:r>
            <a:r>
              <a:rPr lang="en-US" dirty="0"/>
              <a:t> Script”</a:t>
            </a:r>
          </a:p>
          <a:p>
            <a:r>
              <a:rPr lang="en-US" dirty="0"/>
              <a:t>Navigate to location of the </a:t>
            </a:r>
            <a:r>
              <a:rPr lang="en-US" dirty="0" err="1"/>
              <a:t>scipt</a:t>
            </a:r>
            <a:r>
              <a:rPr lang="en-US" dirty="0"/>
              <a:t> “</a:t>
            </a:r>
            <a:r>
              <a:rPr lang="en-US" dirty="0" err="1"/>
              <a:t>Build_Magnetic_Core.lua</a:t>
            </a:r>
            <a:r>
              <a:rPr lang="en-US" dirty="0"/>
              <a:t>” and select it.</a:t>
            </a:r>
          </a:p>
          <a:p>
            <a:r>
              <a:rPr lang="en-US" dirty="0"/>
              <a:t>Follow the next slides for description of the input parameters.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3548F6-AAA9-4A8D-A869-511B3DFE325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4660900" y="1130300"/>
            <a:ext cx="6375400" cy="4216400"/>
            <a:chOff x="3495675" y="847725"/>
            <a:chExt cx="4781550" cy="3162300"/>
          </a:xfrm>
        </p:grpSpPr>
        <p:pic>
          <p:nvPicPr>
            <p:cNvPr id="6146" name="Picture 2" descr="C:\Users\a0868639\Pictures\Femm_ScreenShots\Femm Front Page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847725"/>
              <a:ext cx="3705225" cy="3162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Arrow Connector 6"/>
            <p:cNvCxnSpPr/>
            <p:nvPr/>
          </p:nvCxnSpPr>
          <p:spPr>
            <a:xfrm>
              <a:off x="3495675" y="1114425"/>
              <a:ext cx="1143000" cy="66675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1181550" y="4643967"/>
          <a:ext cx="2148417" cy="702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Packager Shell Object" showAsIcon="1" r:id="rId4" imgW="1611720" imgH="527400" progId="Package">
                  <p:embed/>
                </p:oleObj>
              </mc:Choice>
              <mc:Fallback>
                <p:oleObj name="Packager Shell Object" showAsIcon="1" r:id="rId4" imgW="1611720" imgH="527400" progId="Package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81550" y="4643967"/>
                        <a:ext cx="2148417" cy="7027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8454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Parameters for Script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44501" y="1185864"/>
            <a:ext cx="5580379" cy="4692651"/>
          </a:xfrm>
        </p:spPr>
        <p:txBody>
          <a:bodyPr/>
          <a:lstStyle/>
          <a:p>
            <a:r>
              <a:rPr lang="en-US" sz="2133" dirty="0"/>
              <a:t>File Name – This is the name of the file created and saved.  It will be save in the folder that contains the script. </a:t>
            </a:r>
          </a:p>
          <a:p>
            <a:pPr lvl="1"/>
            <a:r>
              <a:rPr lang="en-US" sz="1867" dirty="0"/>
              <a:t>Note: file name must include .fem extension</a:t>
            </a:r>
          </a:p>
          <a:p>
            <a:pPr lvl="1"/>
            <a:endParaRPr lang="en-US" sz="1867" dirty="0"/>
          </a:p>
          <a:p>
            <a:pPr lvl="1"/>
            <a:endParaRPr lang="en-US" sz="1867" dirty="0"/>
          </a:p>
          <a:p>
            <a:endParaRPr lang="en-US" sz="2133" dirty="0"/>
          </a:p>
          <a:p>
            <a:r>
              <a:rPr lang="en-US" sz="2133" dirty="0" err="1"/>
              <a:t>Core_Depth</a:t>
            </a:r>
            <a:r>
              <a:rPr lang="en-US" sz="2133" dirty="0"/>
              <a:t> (d</a:t>
            </a:r>
            <a:r>
              <a:rPr lang="en-US" sz="2133" baseline="-25000" dirty="0"/>
              <a:t>c</a:t>
            </a:r>
            <a:r>
              <a:rPr lang="en-US" sz="2133" dirty="0"/>
              <a:t>) This is how much depth in the simulation there is.  This is the axis that is not shown in FEMM since this is only a 2D drawing.</a:t>
            </a:r>
            <a:endParaRPr lang="en-US" sz="2133" b="1" dirty="0">
              <a:solidFill>
                <a:schemeClr val="tx2"/>
              </a:solidFill>
            </a:endParaRP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2773B-7332-4E92-84CF-34A277FF245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3345" y="444843"/>
            <a:ext cx="4230760" cy="5749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 descr="C:\Users\a0868639\Pictures\Femm_ScreenShots\Q1_FileNam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45" y="2664460"/>
            <a:ext cx="4856480" cy="739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7" descr="C:\Users\a0868639\Pictures\Femm_ScreenShots\Q2_Core_Depth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" y="5284893"/>
            <a:ext cx="4856480" cy="739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8958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Parameters for Script Cont.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44502" y="1185864"/>
            <a:ext cx="3581399" cy="4692651"/>
          </a:xfrm>
        </p:spPr>
        <p:txBody>
          <a:bodyPr/>
          <a:lstStyle/>
          <a:p>
            <a:r>
              <a:rPr lang="en-US" sz="2400" dirty="0"/>
              <a:t>Core Inside Radius (</a:t>
            </a:r>
            <a:r>
              <a:rPr lang="en-US" sz="2400" dirty="0" err="1"/>
              <a:t>r</a:t>
            </a:r>
            <a:r>
              <a:rPr lang="en-US" sz="2400" baseline="-25000" dirty="0" err="1"/>
              <a:t>i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Core Outer Radius (</a:t>
            </a:r>
            <a:r>
              <a:rPr lang="en-US" sz="2400" dirty="0" err="1"/>
              <a:t>r</a:t>
            </a:r>
            <a:r>
              <a:rPr lang="en-US" sz="2400" baseline="-25000" dirty="0" err="1"/>
              <a:t>o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Air Gap (a)</a:t>
            </a:r>
          </a:p>
          <a:p>
            <a:pPr marL="0" indent="0">
              <a:buNone/>
            </a:pPr>
            <a:r>
              <a:rPr lang="en-US" sz="2400" dirty="0"/>
              <a:t>	</a:t>
            </a: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2773B-7332-4E92-84CF-34A277FF245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774" y="1137920"/>
            <a:ext cx="4093617" cy="454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8" descr="C:\Users\a0868639\Pictures\Femm_ScreenShots\Q3_Core Inside Radiu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" y="1707727"/>
            <a:ext cx="4958080" cy="754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9" descr="C:\Users\a0868639\Pictures\Femm_ScreenShots\Q4_Core Outside Radiu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" y="3190240"/>
            <a:ext cx="4958080" cy="754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a0868639\Pictures\Femm_ScreenShots\Q5_Air Gap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" y="4650187"/>
            <a:ext cx="4958080" cy="754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7869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Parameters for Script Cont.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44502" y="1185864"/>
            <a:ext cx="3581399" cy="4692651"/>
          </a:xfrm>
        </p:spPr>
        <p:txBody>
          <a:bodyPr/>
          <a:lstStyle/>
          <a:p>
            <a:r>
              <a:rPr lang="en-US" sz="2400" dirty="0"/>
              <a:t>Primary Radius (r)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Core Permeability</a:t>
            </a:r>
          </a:p>
          <a:p>
            <a:pPr lvl="1"/>
            <a:r>
              <a:rPr lang="en-US" sz="2133" dirty="0"/>
              <a:t>14000 (Iron)</a:t>
            </a:r>
          </a:p>
          <a:p>
            <a:pPr lvl="1"/>
            <a:r>
              <a:rPr lang="en-US" sz="2133" dirty="0"/>
              <a:t>83000 (Mu Metal)</a:t>
            </a:r>
          </a:p>
          <a:p>
            <a:pPr marL="0" indent="0">
              <a:buNone/>
            </a:pPr>
            <a:r>
              <a:rPr lang="en-US" sz="2400" dirty="0"/>
              <a:t>	</a:t>
            </a: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2773B-7332-4E92-84CF-34A277FF245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774" y="1137920"/>
            <a:ext cx="4093617" cy="454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C:\Users\a0868639\Pictures\Femm_ScreenShots\Q6_Primary Radiu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1733128"/>
            <a:ext cx="5064760" cy="77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C:\Users\a0868639\Pictures\Femm_ScreenShots\Q7_Core Permeability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4450792"/>
            <a:ext cx="5064760" cy="77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7268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Parameters for Script Cont.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44501" y="1185864"/>
            <a:ext cx="4462779" cy="4692651"/>
          </a:xfrm>
        </p:spPr>
        <p:txBody>
          <a:bodyPr/>
          <a:lstStyle/>
          <a:p>
            <a:r>
              <a:rPr lang="en-US" sz="2400" dirty="0"/>
              <a:t>Number of Turns- Secondary Coil number of windings.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Winding Angle (</a:t>
            </a:r>
            <a:r>
              <a:rPr lang="en-US" sz="2400" dirty="0">
                <a:latin typeface="Arial"/>
                <a:cs typeface="Arial"/>
              </a:rPr>
              <a:t>Ɵ°)</a:t>
            </a: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2773B-7332-4E92-84CF-34A277FF245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0682" y="1291592"/>
            <a:ext cx="4286249" cy="428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 descr="C:\Users\a0868639\Pictures\Femm_ScreenShots\Q8_Number of Turn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2100581"/>
            <a:ext cx="4800600" cy="730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:\Users\a0868639\Pictures\Femm_ScreenShots\Q9_Windings Angl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4104641"/>
            <a:ext cx="4800600" cy="730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4828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399" y="747996"/>
            <a:ext cx="6369424" cy="4582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Parameters for Script Cont.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44501" y="1185864"/>
            <a:ext cx="4546599" cy="4692651"/>
          </a:xfrm>
        </p:spPr>
        <p:txBody>
          <a:bodyPr/>
          <a:lstStyle/>
          <a:p>
            <a:r>
              <a:rPr lang="en-US" sz="2133" dirty="0"/>
              <a:t>PCB Height (</a:t>
            </a:r>
            <a:r>
              <a:rPr lang="en-US" sz="2133" dirty="0" err="1"/>
              <a:t>h</a:t>
            </a:r>
            <a:r>
              <a:rPr lang="en-US" sz="2133" baseline="-25000" dirty="0" err="1"/>
              <a:t>P</a:t>
            </a:r>
            <a:r>
              <a:rPr lang="en-US" sz="2133" dirty="0"/>
              <a:t>)</a:t>
            </a:r>
          </a:p>
          <a:p>
            <a:endParaRPr lang="en-US" sz="2133" dirty="0"/>
          </a:p>
          <a:p>
            <a:endParaRPr lang="en-US" sz="2133" dirty="0"/>
          </a:p>
          <a:p>
            <a:r>
              <a:rPr lang="en-US" sz="2133" dirty="0"/>
              <a:t>PCB Width (</a:t>
            </a:r>
            <a:r>
              <a:rPr lang="en-US" sz="2133" dirty="0" err="1"/>
              <a:t>w</a:t>
            </a:r>
            <a:r>
              <a:rPr lang="en-US" sz="2133" baseline="-25000" dirty="0" err="1"/>
              <a:t>P</a:t>
            </a:r>
            <a:r>
              <a:rPr lang="en-US" sz="2133" dirty="0"/>
              <a:t>)</a:t>
            </a:r>
          </a:p>
          <a:p>
            <a:endParaRPr lang="en-US" sz="2133" dirty="0"/>
          </a:p>
          <a:p>
            <a:endParaRPr lang="en-US" sz="2133" dirty="0"/>
          </a:p>
          <a:p>
            <a:r>
              <a:rPr lang="en-US" sz="2133" dirty="0"/>
              <a:t>Cutout Buffer (b)</a:t>
            </a:r>
          </a:p>
          <a:p>
            <a:endParaRPr lang="en-US" sz="2133" dirty="0"/>
          </a:p>
          <a:p>
            <a:pPr marL="0" indent="0">
              <a:buNone/>
            </a:pPr>
            <a:endParaRPr lang="en-US" sz="2133" dirty="0"/>
          </a:p>
          <a:p>
            <a:r>
              <a:rPr lang="en-US" sz="2133" dirty="0"/>
              <a:t>DRV421 Height (</a:t>
            </a:r>
            <a:r>
              <a:rPr lang="en-US" sz="2133" dirty="0" err="1"/>
              <a:t>h</a:t>
            </a:r>
            <a:r>
              <a:rPr lang="en-US" sz="2133" baseline="-25000" dirty="0" err="1"/>
              <a:t>D</a:t>
            </a:r>
            <a:r>
              <a:rPr lang="en-US" sz="2133" dirty="0"/>
              <a:t>) is a constant</a:t>
            </a:r>
          </a:p>
          <a:p>
            <a:pPr marL="0" indent="0">
              <a:buNone/>
            </a:pPr>
            <a:endParaRPr lang="en-US" sz="2133" dirty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2773B-7332-4E92-84CF-34A277FF245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3" descr="C:\Users\a0868639\Pictures\Femm_ScreenShots\Q12_Cutout Buff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4284981"/>
            <a:ext cx="5298440" cy="806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C:\Users\a0868639\Pictures\Femm_ScreenShots\Q11_PCB Width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2970587"/>
            <a:ext cx="5298440" cy="806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5" descr="C:\Users\a0868639\Pictures\Femm_ScreenShots\Q10_PCB Height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1637454"/>
            <a:ext cx="5298440" cy="806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3887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a0868639\Pictures\Femm_ScreenShots\Femm_fem_file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" t="2353" r="45891"/>
          <a:stretch/>
        </p:blipFill>
        <p:spPr bwMode="auto">
          <a:xfrm>
            <a:off x="5354320" y="264160"/>
            <a:ext cx="5773755" cy="590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 outputs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43" name="Rectangle 3"/>
              <p:cNvSpPr>
                <a:spLocks noGrp="1" noChangeArrowheads="1"/>
              </p:cNvSpPr>
              <p:nvPr>
                <p:ph sz="half" idx="1"/>
              </p:nvPr>
            </p:nvSpPr>
            <p:spPr>
              <a:xfrm>
                <a:off x="446328" y="1188788"/>
                <a:ext cx="4652893" cy="4692651"/>
              </a:xfrm>
            </p:spPr>
            <p:txBody>
              <a:bodyPr/>
              <a:lstStyle/>
              <a:p>
                <a:r>
                  <a:rPr lang="en-US" sz="2400" dirty="0" err="1"/>
                  <a:t>Filename.fem</a:t>
                </a:r>
                <a:r>
                  <a:rPr lang="en-US" sz="2400" dirty="0"/>
                  <a:t> file with the drawing of the Magnetic Core with input parameters. </a:t>
                </a:r>
              </a:p>
              <a:p>
                <a:pPr marL="533387" indent="-533387">
                  <a:buFont typeface="+mj-lt"/>
                  <a:buAutoNum type="romanLcPeriod"/>
                </a:pPr>
                <a:r>
                  <a:rPr lang="en-US" sz="2400" dirty="0"/>
                  <a:t>A current on the compensation coil. Compensation current is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# </m:t>
                        </m:r>
                        <m:r>
                          <a:rPr lang="en-US" sz="2400" i="1">
                            <a:latin typeface="Cambria Math"/>
                          </a:rPr>
                          <m:t>𝑜𝑓</m:t>
                        </m:r>
                        <m:r>
                          <a:rPr lang="en-US" sz="2400" i="1">
                            <a:latin typeface="Cambria Math"/>
                          </a:rPr>
                          <m:t> </m:t>
                        </m:r>
                        <m:r>
                          <a:rPr lang="en-US" sz="2400" i="1">
                            <a:latin typeface="Cambria Math"/>
                          </a:rPr>
                          <m:t>𝑇𝑢𝑟𝑛𝑠</m:t>
                        </m:r>
                      </m:den>
                    </m:f>
                  </m:oMath>
                </a14:m>
                <a:r>
                  <a:rPr lang="en-US" sz="2400" dirty="0"/>
                  <a:t> .  The current is used to calculate the inductance and magnetic core gain.</a:t>
                </a:r>
              </a:p>
              <a:p>
                <a:pPr marL="533387" indent="-533387">
                  <a:buFont typeface="+mj-lt"/>
                  <a:buAutoNum type="romanLcPeriod"/>
                </a:pPr>
                <a:r>
                  <a:rPr lang="en-US" sz="2400" dirty="0"/>
                  <a:t>Primary current is zero.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pPr marL="0" indent="0">
                  <a:buNone/>
                </a:pPr>
                <a:endParaRPr lang="en-US" sz="2400" b="1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102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46328" y="1188788"/>
                <a:ext cx="4652893" cy="4692651"/>
              </a:xfrm>
              <a:blipFill>
                <a:blip r:embed="rId3"/>
                <a:stretch>
                  <a:fillRect l="-2097" t="-10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2773B-7332-4E92-84CF-34A277FF245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04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 outputs Cont.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46328" y="1188788"/>
            <a:ext cx="4345805" cy="4692651"/>
          </a:xfrm>
        </p:spPr>
        <p:txBody>
          <a:bodyPr/>
          <a:lstStyle/>
          <a:p>
            <a:r>
              <a:rPr lang="en-US" sz="2400" dirty="0" err="1"/>
              <a:t>Filename.ans</a:t>
            </a:r>
            <a:r>
              <a:rPr lang="en-US" sz="2400" dirty="0"/>
              <a:t> (answer) file that shows the magnetic field on and surrounding the magnetic core with current on the compensation coil as described in previous slide.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2773B-7332-4E92-84CF-34A277FF245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2" name="Picture 2" descr="C:\Users\a0868639\Pictures\Femm_ScreenShots\FEMM_ANS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" t="2222" r="47314"/>
          <a:stretch/>
        </p:blipFill>
        <p:spPr bwMode="auto">
          <a:xfrm>
            <a:off x="5410199" y="296562"/>
            <a:ext cx="5577783" cy="5878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822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 outputs Cont.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46328" y="1188788"/>
            <a:ext cx="4916504" cy="4692651"/>
          </a:xfrm>
        </p:spPr>
        <p:txBody>
          <a:bodyPr/>
          <a:lstStyle/>
          <a:p>
            <a:r>
              <a:rPr lang="en-US" sz="2400" dirty="0" err="1"/>
              <a:t>Lua</a:t>
            </a:r>
            <a:r>
              <a:rPr lang="en-US" sz="2400" dirty="0"/>
              <a:t> Outputs.</a:t>
            </a:r>
          </a:p>
          <a:p>
            <a:pPr marL="457189" indent="-457189">
              <a:buFont typeface="+mj-lt"/>
              <a:buAutoNum type="arabicPeriod"/>
            </a:pPr>
            <a:r>
              <a:rPr lang="en-US" sz="2400" dirty="0"/>
              <a:t>Inductance(H)</a:t>
            </a:r>
          </a:p>
          <a:p>
            <a:pPr marL="457189" indent="-457189">
              <a:buFont typeface="+mj-lt"/>
              <a:buAutoNum type="arabicPeriod"/>
            </a:pPr>
            <a:r>
              <a:rPr lang="en-US" sz="2400" dirty="0"/>
              <a:t>Core Magnetic Gain (Tesla/Amp)</a:t>
            </a:r>
          </a:p>
          <a:p>
            <a:pPr marL="457189" indent="-457189">
              <a:buFont typeface="+mj-lt"/>
              <a:buAutoNum type="arabicPeriod"/>
            </a:pPr>
            <a:r>
              <a:rPr lang="en-US" sz="2400" dirty="0"/>
              <a:t>Sensor Location (X,Y)  0.4 mm from top of DRV421 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2773B-7332-4E92-84CF-34A277FF245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1266" name="Picture 2" descr="C:\Users\a0868639\Pictures\Femm_ScreenShots\Lua_output_informa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532" y="1323545"/>
            <a:ext cx="6070600" cy="40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8273608"/>
      </p:ext>
    </p:extLst>
  </p:cSld>
  <p:clrMapOvr>
    <a:masterClrMapping/>
  </p:clrMapOvr>
</p:sld>
</file>

<file path=ppt/theme/theme1.xml><?xml version="1.0" encoding="utf-8"?>
<a:theme xmlns:a="http://schemas.openxmlformats.org/drawingml/2006/main" name="FinalPowerpoint">
  <a:themeElements>
    <a:clrScheme name="Custom 1">
      <a:dk1>
        <a:srgbClr val="000000"/>
      </a:dk1>
      <a:lt1>
        <a:srgbClr val="FFFFFF"/>
      </a:lt1>
      <a:dk2>
        <a:srgbClr val="DE0000"/>
      </a:dk2>
      <a:lt2>
        <a:srgbClr val="808080"/>
      </a:lt2>
      <a:accent1>
        <a:srgbClr val="DE0000"/>
      </a:accent1>
      <a:accent2>
        <a:srgbClr val="A4A4A4"/>
      </a:accent2>
      <a:accent3>
        <a:srgbClr val="117788"/>
      </a:accent3>
      <a:accent4>
        <a:srgbClr val="404040"/>
      </a:accent4>
      <a:accent5>
        <a:srgbClr val="4ABED4"/>
      </a:accent5>
      <a:accent6>
        <a:srgbClr val="7F7F7F"/>
      </a:accent6>
      <a:hlink>
        <a:srgbClr val="DE0000"/>
      </a:hlink>
      <a:folHlink>
        <a:srgbClr val="AAAAAA"/>
      </a:folHlink>
    </a:clrScheme>
    <a:fontScheme name="Final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inalPowerpoint 1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AAAAAA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D2D2D2"/>
        </a:accent5>
        <a:accent6>
          <a:srgbClr val="000000"/>
        </a:accent6>
        <a:hlink>
          <a:srgbClr val="FF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Powerpoint 2">
        <a:dk1>
          <a:srgbClr val="AAAAAA"/>
        </a:dk1>
        <a:lt1>
          <a:srgbClr val="FFFFFF"/>
        </a:lt1>
        <a:dk2>
          <a:srgbClr val="000000"/>
        </a:dk2>
        <a:lt2>
          <a:srgbClr val="FFFFFF"/>
        </a:lt2>
        <a:accent1>
          <a:srgbClr val="AAAAAA"/>
        </a:accent1>
        <a:accent2>
          <a:srgbClr val="FFFFFF"/>
        </a:accent2>
        <a:accent3>
          <a:srgbClr val="AAAAAA"/>
        </a:accent3>
        <a:accent4>
          <a:srgbClr val="DADADA"/>
        </a:accent4>
        <a:accent5>
          <a:srgbClr val="D2D2D2"/>
        </a:accent5>
        <a:accent6>
          <a:srgbClr val="E7E7E7"/>
        </a:accent6>
        <a:hlink>
          <a:srgbClr val="AAAAAA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3">
        <a:dk1>
          <a:srgbClr val="808080"/>
        </a:dk1>
        <a:lt1>
          <a:srgbClr val="FFFFFF"/>
        </a:lt1>
        <a:dk2>
          <a:srgbClr val="AAAAAA"/>
        </a:dk2>
        <a:lt2>
          <a:srgbClr val="000000"/>
        </a:lt2>
        <a:accent1>
          <a:srgbClr val="000000"/>
        </a:accent1>
        <a:accent2>
          <a:srgbClr val="AAAAAA"/>
        </a:accent2>
        <a:accent3>
          <a:srgbClr val="D2D2D2"/>
        </a:accent3>
        <a:accent4>
          <a:srgbClr val="DADADA"/>
        </a:accent4>
        <a:accent5>
          <a:srgbClr val="AAAAAA"/>
        </a:accent5>
        <a:accent6>
          <a:srgbClr val="9A9A9A"/>
        </a:accent6>
        <a:hlink>
          <a:srgbClr val="FF00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4">
        <a:dk1>
          <a:srgbClr val="000000"/>
        </a:dk1>
        <a:lt1>
          <a:srgbClr val="FF0000"/>
        </a:lt1>
        <a:dk2>
          <a:srgbClr val="FFFFFF"/>
        </a:dk2>
        <a:lt2>
          <a:srgbClr val="000000"/>
        </a:lt2>
        <a:accent1>
          <a:srgbClr val="AAAAAA"/>
        </a:accent1>
        <a:accent2>
          <a:srgbClr val="FFFFFF"/>
        </a:accent2>
        <a:accent3>
          <a:srgbClr val="FFAAAA"/>
        </a:accent3>
        <a:accent4>
          <a:srgbClr val="000000"/>
        </a:accent4>
        <a:accent5>
          <a:srgbClr val="D2D2D2"/>
        </a:accent5>
        <a:accent6>
          <a:srgbClr val="E7E7E7"/>
        </a:accent6>
        <a:hlink>
          <a:srgbClr val="00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2" id="{21DEEB12-3F7F-4BE3-B768-E7C36D2DAFC2}" vid="{F211C862-33B5-4D62-9C83-03F82420E1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TI Selective Disclosure (2)</Template>
  <TotalTime>1</TotalTime>
  <Words>548</Words>
  <Application>Microsoft Office PowerPoint</Application>
  <PresentationFormat>Widescreen</PresentationFormat>
  <Paragraphs>93</Paragraphs>
  <Slides>15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FinalPowerpoint</vt:lpstr>
      <vt:lpstr>Packager Shell Object</vt:lpstr>
      <vt:lpstr>PowerPoint Presentation</vt:lpstr>
      <vt:lpstr>Magnetic Cores designs with FEMM </vt:lpstr>
      <vt:lpstr>Installing FEMM</vt:lpstr>
      <vt:lpstr>Finite Element Method Magnetics (FEMM) Basics</vt:lpstr>
      <vt:lpstr>Finite Element Method Magnetics (FEMM) Basics</vt:lpstr>
      <vt:lpstr>Magnetic Core</vt:lpstr>
      <vt:lpstr>Run Script From FEMM</vt:lpstr>
      <vt:lpstr>Input Parameters for Script</vt:lpstr>
      <vt:lpstr>Input Parameters for Script Cont.</vt:lpstr>
      <vt:lpstr>Input Parameters for Script Cont.</vt:lpstr>
      <vt:lpstr>Input Parameters for Script Cont.</vt:lpstr>
      <vt:lpstr>Input Parameters for Script Cont.</vt:lpstr>
      <vt:lpstr>Script outputs</vt:lpstr>
      <vt:lpstr>Script outputs Cont.</vt:lpstr>
      <vt:lpstr>Script outputs Cont.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Vanacore, Joe</dc:creator>
  <cp:lastModifiedBy>Vanacore, Joe</cp:lastModifiedBy>
  <cp:revision>1</cp:revision>
  <dcterms:created xsi:type="dcterms:W3CDTF">2024-07-18T22:48:34Z</dcterms:created>
  <dcterms:modified xsi:type="dcterms:W3CDTF">2024-07-18T22:50:29Z</dcterms:modified>
</cp:coreProperties>
</file>